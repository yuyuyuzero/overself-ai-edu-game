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A33">
              <a:alpha val="92000"/>
            </a:srgbClr>
          </a:solidFill>
          <a:ln w="12700">
            <a:solidFill>
              <a:srgbClr val="1B1A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1234440"/>
            <a:ext cx="548640" cy="91440"/>
          </a:xfrm>
          <a:prstGeom prst="rect">
            <a:avLst/>
          </a:prstGeom>
          <a:solidFill>
            <a:srgbClr val="4A8FE0"/>
          </a:solidFill>
          <a:ln w="12700">
            <a:solidFill>
              <a:srgbClr val="4A8F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1234440"/>
            <a:ext cx="548640" cy="91440"/>
          </a:xfrm>
          <a:prstGeom prst="rect">
            <a:avLst/>
          </a:prstGeom>
          <a:solidFill>
            <a:srgbClr val="F07C5A"/>
          </a:solidFill>
          <a:ln w="12700">
            <a:solidFill>
              <a:srgbClr val="F07C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200" kern="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Overself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C1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for 人格成长 · 不做应试，做成长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分数之外，也要长成更好的人。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B4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yuyuyuzero.github.io/overself-ai-edu-game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8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411480" cy="73152"/>
          </a:xfrm>
          <a:prstGeom prst="rect">
            <a:avLst/>
          </a:prstGeom>
          <a:solidFill>
            <a:srgbClr val="4A8FE0"/>
          </a:solidFill>
          <a:ln w="12700">
            <a:solidFill>
              <a:srgbClr val="4A8F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384048"/>
            <a:ext cx="411480" cy="73152"/>
          </a:xfrm>
          <a:prstGeom prst="rect">
            <a:avLst/>
          </a:prstGeom>
          <a:solidFill>
            <a:srgbClr val="F07C5A"/>
          </a:solidFill>
          <a:ln w="12700">
            <a:solidFill>
              <a:srgbClr val="F07C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B9B4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为什么做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分数之外，人格的成长常常被搁在一边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E6E3F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十几年围着分数转。可走出考场以后，真正决定一个人过得好不好的，常常是另一些能力：</a:t>
            </a:r>
            <a:endParaRPr lang="en-US" sz="1350" dirty="0"/>
          </a:p>
          <a:p>
            <a:pPr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350" b="1" dirty="0">
                <a:solidFill>
                  <a:srgbClr val="F2C1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能不能读懂身边的人；能不能在情绪上头时稳住自己；能不能把一件砸过来的事拆开、解决掉。</a:t>
            </a:r>
            <a:endParaRPr lang="en-US" sz="1350" dirty="0"/>
          </a:p>
          <a:p>
            <a:pPr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E6E3F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这些能力没有考纲，也很少有人系统地教。我们不做应试产品——AI for 人格成长。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617720" y="1325880"/>
            <a:ext cx="2011680" cy="3291840"/>
          </a:xfrm>
          <a:prstGeom prst="rect">
            <a:avLst/>
          </a:prstGeom>
          <a:solidFill>
            <a:srgbClr val="2C2A4A"/>
          </a:solidFill>
          <a:ln w="19050">
            <a:solidFill>
              <a:srgbClr val="4A8F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17720" y="1325880"/>
            <a:ext cx="2011680" cy="73152"/>
          </a:xfrm>
          <a:prstGeom prst="rect">
            <a:avLst/>
          </a:prstGeom>
          <a:solidFill>
            <a:srgbClr val="4A8FE0"/>
          </a:solidFill>
          <a:ln w="12700">
            <a:solidFill>
              <a:srgbClr val="4A8F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508760"/>
            <a:ext cx="1737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4A8FE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偏理性的人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8C88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长处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冷静、讲道理、会解决问题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8C88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容易卡住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道理都对，却读不懂人心；方案给早了，被听成冷漠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8C88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在这里学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A8FE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读懂人心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675120" y="1325880"/>
            <a:ext cx="2011680" cy="3291840"/>
          </a:xfrm>
          <a:prstGeom prst="rect">
            <a:avLst/>
          </a:prstGeom>
          <a:solidFill>
            <a:srgbClr val="2C2A4A"/>
          </a:solidFill>
          <a:ln w="19050">
            <a:solidFill>
              <a:srgbClr val="F07C5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75120" y="1325880"/>
            <a:ext cx="2011680" cy="73152"/>
          </a:xfrm>
          <a:prstGeom prst="rect">
            <a:avLst/>
          </a:prstGeom>
          <a:solidFill>
            <a:srgbClr val="F07C5A"/>
          </a:solidFill>
          <a:ln w="12700">
            <a:solidFill>
              <a:srgbClr val="F07C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12280" y="1508760"/>
            <a:ext cx="1737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F07C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偏感性的人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8C88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长处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敏锐、体贴、懂别人的感受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8C88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容易卡住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感受很深，却被情绪带着走；情绪最高时做了收不回的决定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8C88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在这里学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F07C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稳住情绪，冷静解题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434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B4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不用 MBTI 字母、不贴标签：每个人都有两面，只是压力下更习惯用其中一面。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E9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411480" cy="73152"/>
          </a:xfrm>
          <a:prstGeom prst="rect">
            <a:avLst/>
          </a:prstGeom>
          <a:solidFill>
            <a:srgbClr val="4A8FE0"/>
          </a:solidFill>
          <a:ln w="12700">
            <a:solidFill>
              <a:srgbClr val="4A8F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384048"/>
            <a:ext cx="411480" cy="73152"/>
          </a:xfrm>
          <a:prstGeom prst="rect">
            <a:avLst/>
          </a:prstGeom>
          <a:solidFill>
            <a:srgbClr val="F07C5A"/>
          </a:solidFill>
          <a:ln w="12700">
            <a:solidFill>
              <a:srgbClr val="F07C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E6A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我们要解决的问题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4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道理人人都懂，可到了那一刻，人只会用习惯的那一面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4023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417320"/>
            <a:ext cx="73152" cy="1371600"/>
          </a:xfrm>
          <a:prstGeom prst="rect">
            <a:avLst/>
          </a:prstGeom>
          <a:solidFill>
            <a:srgbClr val="4A8FE0"/>
          </a:solidFill>
          <a:ln w="12700">
            <a:solidFill>
              <a:srgbClr val="4A8F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8FE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偏理性的人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19202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4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知道"要共情"。可同学说"我不跳了"，脱口而出的是：「那就换人吧。」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1417320"/>
            <a:ext cx="4023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417320"/>
            <a:ext cx="73152" cy="1371600"/>
          </a:xfrm>
          <a:prstGeom prst="rect">
            <a:avLst/>
          </a:prstGeom>
          <a:solidFill>
            <a:srgbClr val="F07C5A"/>
          </a:solidFill>
          <a:ln w="12700">
            <a:solidFill>
              <a:srgbClr val="F07C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7C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偏感性的人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92040" y="19202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4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知道"要冷静"。可只听见"不跳了"四个字，掏出手机就要往 48 人的班群发长文。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154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B5BD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卡住人的从来不是知识，而是「那一刻的视角」。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A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所以我们不出题、不讲道理，而是把人放回那一刻：同一句话，你先当说的人，再当听的人。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8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411480" cy="73152"/>
          </a:xfrm>
          <a:prstGeom prst="rect">
            <a:avLst/>
          </a:prstGeom>
          <a:solidFill>
            <a:srgbClr val="4A8FE0"/>
          </a:solidFill>
          <a:ln w="12700">
            <a:solidFill>
              <a:srgbClr val="4A8F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384048"/>
            <a:ext cx="411480" cy="73152"/>
          </a:xfrm>
          <a:prstGeom prst="rect">
            <a:avLst/>
          </a:prstGeom>
          <a:solidFill>
            <a:srgbClr val="F07C5A"/>
          </a:solidFill>
          <a:ln w="12700">
            <a:solidFill>
              <a:srgbClr val="F07C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B9B4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我们的解法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每一章都是同一个循环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640080" cy="640080"/>
          </a:xfrm>
          <a:prstGeom prst="ellipse">
            <a:avLst/>
          </a:prstGeom>
          <a:solidFill>
            <a:srgbClr val="F07C5A"/>
          </a:solidFill>
          <a:ln w="12700">
            <a:solidFill>
              <a:srgbClr val="F07C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234440" y="1783080"/>
            <a:ext cx="1188720" cy="0"/>
          </a:xfrm>
          <a:prstGeom prst="line">
            <a:avLst/>
          </a:prstGeom>
          <a:noFill/>
          <a:ln w="19050">
            <a:solidFill>
              <a:srgbClr val="4A4770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457200" y="22860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7C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经历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27432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3F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以和你相像的那个人进入故事，用你习惯的方式做选择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60320" y="1463040"/>
            <a:ext cx="640080" cy="640080"/>
          </a:xfrm>
          <a:prstGeom prst="ellipse">
            <a:avLst/>
          </a:prstGeom>
          <a:solidFill>
            <a:srgbClr val="6B5BD2"/>
          </a:solidFill>
          <a:ln w="12700">
            <a:solidFill>
              <a:srgbClr val="6B5B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337560" y="1783080"/>
            <a:ext cx="1188720" cy="0"/>
          </a:xfrm>
          <a:prstGeom prst="line">
            <a:avLst/>
          </a:prstGeom>
          <a:noFill/>
          <a:ln w="19050">
            <a:solidFill>
              <a:srgbClr val="4A4770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2560320" y="22860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B5BD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镜面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560320" y="27432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3F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切到对方身上重走一遍。你说的每句话，屏幕上都会浮出「对方听到的」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1463040"/>
            <a:ext cx="640080" cy="640080"/>
          </a:xfrm>
          <a:prstGeom prst="ellipse">
            <a:avLst/>
          </a:prstGeom>
          <a:solidFill>
            <a:srgbClr val="4A8FE0"/>
          </a:solidFill>
          <a:ln w="12700">
            <a:solidFill>
              <a:srgbClr val="4A8F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440680" y="1783080"/>
            <a:ext cx="1188720" cy="0"/>
          </a:xfrm>
          <a:prstGeom prst="line">
            <a:avLst/>
          </a:prstGeom>
          <a:noFill/>
          <a:ln w="19050">
            <a:solidFill>
              <a:srgbClr val="4A4770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4663440" y="22860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8FE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倒带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663440" y="27432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3F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时间回到关键那一刻，换一种做法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766560" y="1463040"/>
            <a:ext cx="640080" cy="640080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766560" y="22860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C1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复盘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766560" y="27432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3F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并排看「第一次」与「倒带后」，收技能卡，领本周小任务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3931920"/>
            <a:ext cx="8229600" cy="685800"/>
          </a:xfrm>
          <a:prstGeom prst="rect">
            <a:avLst/>
          </a:prstGeom>
          <a:solidFill>
            <a:srgbClr val="2C2A4A"/>
          </a:solidFill>
          <a:ln w="12700">
            <a:solidFill>
              <a:srgbClr val="2C2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9319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C1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倒带不扣分。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第一次的自然反应只用来看见"你的习惯"；倒带后的那个选择，是你多出来的一种。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E9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411480" cy="73152"/>
          </a:xfrm>
          <a:prstGeom prst="rect">
            <a:avLst/>
          </a:prstGeom>
          <a:solidFill>
            <a:srgbClr val="4A8FE0"/>
          </a:solidFill>
          <a:ln w="12700">
            <a:solidFill>
              <a:srgbClr val="4A8F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384048"/>
            <a:ext cx="411480" cy="73152"/>
          </a:xfrm>
          <a:prstGeom prst="rect">
            <a:avLst/>
          </a:prstGeom>
          <a:solidFill>
            <a:srgbClr val="F07C5A"/>
          </a:solidFill>
          <a:ln w="12700">
            <a:solidFill>
              <a:srgbClr val="F07C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E6A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一段真实体验 · 校园篇《汇演前三天》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4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领舞说「不跳了」——同一个傍晚，两个人各自卡住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4206240" cy="2366010"/>
          </a:xfrm>
          <a:prstGeom prst="rect">
            <a:avLst/>
          </a:prstGeom>
          <a:solidFill>
            <a:srgbClr val="000000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pic>
        <p:nvPicPr>
          <p:cNvPr id="8" name="Image 0" descr="/Users/bytedance/Desktop/complement-game/pitch/assets/c-fil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4206240" cy="236601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379247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A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情绪滤镜：情绪最高时，原因（前半句）被模糊掉了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937760" y="1444752"/>
            <a:ext cx="292608" cy="292608"/>
          </a:xfrm>
          <a:prstGeom prst="ellipse">
            <a:avLst/>
          </a:prstGeom>
          <a:solidFill>
            <a:srgbClr val="4A8F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937760" y="1444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349240" y="137160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4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情绪滤镜　</a:t>
            </a:r>
            <a:pPr indent="0" marL="0">
              <a:buNone/>
            </a:pPr>
            <a:r>
              <a:rPr lang="en-US" sz="1100" dirty="0">
                <a:solidFill>
                  <a:srgbClr val="6E6A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小满只听见「不跳了、找别人吧」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937760" y="1993392"/>
            <a:ext cx="292608" cy="292608"/>
          </a:xfrm>
          <a:prstGeom prst="ellipse">
            <a:avLst/>
          </a:prstGeom>
          <a:solidFill>
            <a:srgbClr val="F07C5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37760" y="1993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349240" y="192024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4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冲动 6 秒　</a:t>
            </a:r>
            <a:pPr indent="0" marL="0">
              <a:buNone/>
            </a:pPr>
            <a:r>
              <a:rPr lang="en-US" sz="1100" dirty="0">
                <a:solidFill>
                  <a:srgbClr val="6E6A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班群长文 / 撂挑子 / 私聊骂人；选了就看见后果，再被倒回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937760" y="2542032"/>
            <a:ext cx="292608" cy="292608"/>
          </a:xfrm>
          <a:prstGeom prst="ellipse">
            <a:avLst/>
          </a:prstGeom>
          <a:solidFill>
            <a:srgbClr val="4A8F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37760" y="25420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349240" y="24688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4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暂停 · 回听　</a:t>
            </a:r>
            <a:pPr indent="0" marL="0">
              <a:buNone/>
            </a:pPr>
            <a:r>
              <a:rPr lang="en-US" sz="1100" dirty="0">
                <a:solidFill>
                  <a:srgbClr val="6E6A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「她第一句就说了原因」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937760" y="3090672"/>
            <a:ext cx="292608" cy="292608"/>
          </a:xfrm>
          <a:prstGeom prst="ellipse">
            <a:avLst/>
          </a:prstGeom>
          <a:solidFill>
            <a:srgbClr val="F07C5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937760" y="30906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349240" y="301752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4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分类 · 提问　</a:t>
            </a:r>
            <a:pPr indent="0" marL="0">
              <a:buNone/>
            </a:pPr>
            <a:r>
              <a:rPr lang="en-US" sz="1100" dirty="0">
                <a:solidFill>
                  <a:srgbClr val="6E6A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分开事实和剧本；车来前只能问两个问题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937760" y="3639312"/>
            <a:ext cx="292608" cy="292608"/>
          </a:xfrm>
          <a:prstGeom prst="ellipse">
            <a:avLst/>
          </a:prstGeom>
          <a:solidFill>
            <a:srgbClr val="6B5BD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937760" y="3639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349240" y="356616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4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镜面　</a:t>
            </a:r>
            <a:pPr indent="0" marL="0">
              <a:buNone/>
            </a:pPr>
            <a:r>
              <a:rPr lang="en-US" sz="1100" dirty="0">
                <a:solidFill>
                  <a:srgbClr val="6E6A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换成陈屿：「换人吧」被听成「你那三个星期也不重要」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937760" y="4187952"/>
            <a:ext cx="292608" cy="292608"/>
          </a:xfrm>
          <a:prstGeom prst="ellipse">
            <a:avLst/>
          </a:prstGeom>
          <a:solidFill>
            <a:srgbClr val="F07C5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937760" y="4187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349240" y="411480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4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排序 · 拼句　</a:t>
            </a:r>
            <a:pPr indent="0" marL="0">
              <a:buNone/>
            </a:pPr>
            <a:r>
              <a:rPr lang="en-US" sz="1100" dirty="0">
                <a:solidFill>
                  <a:srgbClr val="6E6A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按「卡住了谁」排先后；给班群发一条只有事实和安排的消息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E9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411480" cy="73152"/>
          </a:xfrm>
          <a:prstGeom prst="rect">
            <a:avLst/>
          </a:prstGeom>
          <a:solidFill>
            <a:srgbClr val="4A8FE0"/>
          </a:solidFill>
          <a:ln w="12700">
            <a:solidFill>
              <a:srgbClr val="4A8F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384048"/>
            <a:ext cx="411480" cy="73152"/>
          </a:xfrm>
          <a:prstGeom prst="rect">
            <a:avLst/>
          </a:prstGeom>
          <a:solidFill>
            <a:srgbClr val="F07C5A"/>
          </a:solidFill>
          <a:ln w="12700">
            <a:solidFill>
              <a:srgbClr val="F07C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E6A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核心时刻 · 镜面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4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同一个意思，换一种说法，对方听到的完全不同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45720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1945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陈屿说的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8F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小满听到的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7C5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24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换人吧，赵婷是替补，三天够了。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24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林可不重要。你那三个星期也不重要。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24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她早退本来就影响排练，走了反而省事。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24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是你选错了人。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24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先别急着定，会不会是排练时间的问题？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24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这件事可能有解。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24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你先坐会儿。三个星期白练谁都难受。我们一起想办法。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24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我看见你了，你不是一个人。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303520" y="1371600"/>
            <a:ext cx="3383280" cy="2743200"/>
          </a:xfrm>
          <a:prstGeom prst="rect">
            <a:avLst/>
          </a:prstGeom>
          <a:solidFill>
            <a:srgbClr val="1B1A33"/>
          </a:solidFill>
          <a:ln w="12700">
            <a:solidFill>
              <a:srgbClr val="1B1A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0" y="1508760"/>
            <a:ext cx="3017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000" dirty="0">
                <a:solidFill>
                  <a:srgbClr val="B9B4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镜面结束时的旁白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她其实想说的是——「我好慌。三个星期的心血要没了，我需要有人跟我站在一起。」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2C1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你给了她一个方案。她那时候要的，是一个同伴。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303520" y="4251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5BD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这就是这个游戏最想制造的那一声「啊」。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E9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411480" cy="73152"/>
          </a:xfrm>
          <a:prstGeom prst="rect">
            <a:avLst/>
          </a:prstGeom>
          <a:solidFill>
            <a:srgbClr val="4A8FE0"/>
          </a:solidFill>
          <a:ln w="12700">
            <a:solidFill>
              <a:srgbClr val="4A8F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384048"/>
            <a:ext cx="411480" cy="73152"/>
          </a:xfrm>
          <a:prstGeom prst="rect">
            <a:avLst/>
          </a:prstGeom>
          <a:solidFill>
            <a:srgbClr val="F07C5A"/>
          </a:solidFill>
          <a:ln w="12700">
            <a:solidFill>
              <a:srgbClr val="F07C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E6A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学到什么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4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冷静不是忍住，共情不是附和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40233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71600"/>
            <a:ext cx="4023360" cy="73152"/>
          </a:xfrm>
          <a:prstGeom prst="rect">
            <a:avLst/>
          </a:prstGeom>
          <a:solidFill>
            <a:srgbClr val="4A8FE0"/>
          </a:solidFill>
          <a:ln w="12700">
            <a:solidFill>
              <a:srgbClr val="4A8F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8FE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偏理性的人 → 学会读懂人心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2011680"/>
            <a:ext cx="36118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4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看见信号：低头、攥紧的手、躲开的视线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4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先接住情绪，再说事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4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知道自己那句话会被听成什么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4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情绪也是事实，也是要处理的问题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63440" y="1371600"/>
            <a:ext cx="40233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371600"/>
            <a:ext cx="4023360" cy="73152"/>
          </a:xfrm>
          <a:prstGeom prst="rect">
            <a:avLst/>
          </a:prstGeom>
          <a:solidFill>
            <a:srgbClr val="F07C5A"/>
          </a:solidFill>
          <a:ln w="12700">
            <a:solidFill>
              <a:srgbClr val="F07C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7C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偏感性的人 → 学会稳住情绪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92040" y="2011680"/>
            <a:ext cx="36118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4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先听全原话，情绪最高时不做决定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4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分开事实、评判、读心术、灾难化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4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先问清楚，再下判断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4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按「卡住了谁」排先后，对事不对人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624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发一条事实 + 安排 + 请求的消息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E9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411480" cy="73152"/>
          </a:xfrm>
          <a:prstGeom prst="rect">
            <a:avLst/>
          </a:prstGeom>
          <a:solidFill>
            <a:srgbClr val="4A8FE0"/>
          </a:solidFill>
          <a:ln w="12700">
            <a:solidFill>
              <a:srgbClr val="4A8F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384048"/>
            <a:ext cx="411480" cy="73152"/>
          </a:xfrm>
          <a:prstGeom prst="rect">
            <a:avLst/>
          </a:prstGeom>
          <a:solidFill>
            <a:srgbClr val="F07C5A"/>
          </a:solidFill>
          <a:ln w="12700">
            <a:solidFill>
              <a:srgbClr val="F07C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E6A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4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三个故事，都是理性与感性互相学（按推荐顺序）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26060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71600"/>
            <a:ext cx="2606040" cy="73152"/>
          </a:xfrm>
          <a:prstGeom prst="rect">
            <a:avLst/>
          </a:prstGeom>
          <a:solidFill>
            <a:srgbClr val="6B5BD2"/>
          </a:solidFill>
          <a:ln w="12700">
            <a:solidFill>
              <a:srgbClr val="6B5B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5BD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40080" y="21031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4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校园《汇演前三天》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A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推荐首玩 · 30 分钟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743200"/>
            <a:ext cx="2240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2624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元旦汇演前三天，领舞突然说不跳了。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4A8FE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陈屿（偏理性）：先看见人，再排人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D2603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苏小满（偏感性）：情绪是警报不是导航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46120" y="1371600"/>
            <a:ext cx="26060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1371600"/>
            <a:ext cx="2606040" cy="73152"/>
          </a:xfrm>
          <a:prstGeom prst="rect">
            <a:avLst/>
          </a:prstGeom>
          <a:solidFill>
            <a:srgbClr val="4A8FE0"/>
          </a:solidFill>
          <a:ln w="12700">
            <a:solidFill>
              <a:srgbClr val="4A8F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8FE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429000" y="21031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4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家庭《那一周》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29000" y="242316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A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60 分钟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29000" y="2743200"/>
            <a:ext cx="2240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2624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妈妈摔倒骨折，一对性格相反的姐弟在医院的七天。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4A8FE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弟弟林朗（偏理性）：先接情绪，再说事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D2603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姐姐林晚（偏感性）：把害怕变成问题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35040" y="1371600"/>
            <a:ext cx="26060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040" y="1371600"/>
            <a:ext cx="2606040" cy="73152"/>
          </a:xfrm>
          <a:prstGeom prst="rect">
            <a:avLst/>
          </a:prstGeom>
          <a:solidFill>
            <a:srgbClr val="F07C5A"/>
          </a:solidFill>
          <a:ln w="12700">
            <a:solidFill>
              <a:srgbClr val="F07C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7C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217920" y="21031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4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职场《第一次带项目》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17920" y="242316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A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 分钟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17920" y="2743200"/>
            <a:ext cx="22402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2624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上线前一周客户改需求，总监当众问：「这个排期是谁拍的脑袋？」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4A8FE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赵总监（偏理性）：知道自己那句话被听成了什么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D2603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许诺（偏感性）：把批评当信息，交出能执行的方案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E9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411480" cy="73152"/>
          </a:xfrm>
          <a:prstGeom prst="rect">
            <a:avLst/>
          </a:prstGeom>
          <a:solidFill>
            <a:srgbClr val="4A8FE0"/>
          </a:solidFill>
          <a:ln w="12700">
            <a:solidFill>
              <a:srgbClr val="4A8F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384048"/>
            <a:ext cx="411480" cy="73152"/>
          </a:xfrm>
          <a:prstGeom prst="rect">
            <a:avLst/>
          </a:prstGeom>
          <a:solidFill>
            <a:srgbClr val="F07C5A"/>
          </a:solidFill>
          <a:ln w="12700">
            <a:solidFill>
              <a:srgbClr val="F07C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E6A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4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浏览器即玩：漫画幻灯片式的视觉小说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4114800" cy="2314575"/>
          </a:xfrm>
          <a:prstGeom prst="rect">
            <a:avLst/>
          </a:prstGeom>
          <a:solidFill>
            <a:srgbClr val="000000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pic>
        <p:nvPicPr>
          <p:cNvPr id="8" name="Image 0" descr="/Users/bytedance/Desktop/complement-game/pitch/assets/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4114800" cy="231457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3695319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A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首页：两个成长方向、三个故事、日常练习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54880" y="1325880"/>
            <a:ext cx="3931920" cy="2211705"/>
          </a:xfrm>
          <a:prstGeom prst="rect">
            <a:avLst/>
          </a:prstGeom>
          <a:solidFill>
            <a:srgbClr val="000000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pic>
        <p:nvPicPr>
          <p:cNvPr id="11" name="Image 1" descr="/Users/bytedance/Desktop/complement-game/pitch/assets/c-de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25880"/>
            <a:ext cx="3931920" cy="221170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54880" y="3592449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6A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镜面解码：「对方听到的」浮在画面上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4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21 个按年龄与人设设计的角色 × 9 种表情 · 21 张场景 · 程序化音乐音效 · 全局进度条与目录，课堂可直接跳到某一刻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8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411480" cy="73152"/>
          </a:xfrm>
          <a:prstGeom prst="rect">
            <a:avLst/>
          </a:prstGeom>
          <a:solidFill>
            <a:srgbClr val="4A8FE0"/>
          </a:solidFill>
          <a:ln w="12700">
            <a:solidFill>
              <a:srgbClr val="4A8F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384048"/>
            <a:ext cx="411480" cy="73152"/>
          </a:xfrm>
          <a:prstGeom prst="rect">
            <a:avLst/>
          </a:prstGeom>
          <a:solidFill>
            <a:srgbClr val="F07C5A"/>
          </a:solidFill>
          <a:ln w="12700">
            <a:solidFill>
              <a:srgbClr val="F07C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B9B4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的角色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从「选择题」到「自己说出口」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3F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真实生活里没有选项。AI 让玩家用自己的话回应，并立刻看到对方会听到什么。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4023360" cy="1737360"/>
          </a:xfrm>
          <a:prstGeom prst="rect">
            <a:avLst/>
          </a:prstGeom>
          <a:solidFill>
            <a:srgbClr val="2C2A4A"/>
          </a:solidFill>
          <a:ln w="19050">
            <a:solidFill>
              <a:srgbClr val="F2C14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C1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自由表达（先做）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22860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B9B4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接在哪：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拼句节点，如小满给 48 人班群发的澄清消息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B9B4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做什么：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按评分维度（事实 / 安排 / 请求）打分，以角色口吻回应，给一句点评；分数接入原剧情分支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1783080"/>
            <a:ext cx="4023360" cy="1737360"/>
          </a:xfrm>
          <a:prstGeom prst="rect">
            <a:avLst/>
          </a:prstGeom>
          <a:solidFill>
            <a:srgbClr val="2C2A4A"/>
          </a:solidFill>
          <a:ln w="19050">
            <a:solidFill>
              <a:srgbClr val="F07C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7C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动态镜面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46320" y="22860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B9B4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接在哪：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关键回应，如陈屿面对快哭的小满说的第一句话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B9B4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做什么：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对玩家自己写的话，生成「对方听到的」「对方心里」和情绪变化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3703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8FE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之后：</a:t>
            </a:r>
            <a:pPr indent="0" marL="0">
              <a:buNone/>
            </a:pPr>
            <a:r>
              <a:rPr lang="en-US" sz="1200" dirty="0">
                <a:solidFill>
                  <a:srgbClr val="E6E3F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 与带隐藏情绪的 AI 角色自由对话一整个场景　④ 描述你生活里的一件事，AI 生成对应练习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B4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边界：不做心理咨询和诊断；高风险内容固定话术引导求助；青少年内容安全过滤；接口不可用时自动退回选项模式。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9E9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411480" cy="73152"/>
          </a:xfrm>
          <a:prstGeom prst="rect">
            <a:avLst/>
          </a:prstGeom>
          <a:solidFill>
            <a:srgbClr val="4A8FE0"/>
          </a:solidFill>
          <a:ln w="12700">
            <a:solidFill>
              <a:srgbClr val="4A8F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384048"/>
            <a:ext cx="411480" cy="73152"/>
          </a:xfrm>
          <a:prstGeom prst="rect">
            <a:avLst/>
          </a:prstGeom>
          <a:solidFill>
            <a:srgbClr val="F07C5A"/>
          </a:solidFill>
          <a:ln w="12700">
            <a:solidFill>
              <a:srgbClr val="F07C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E6A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落地与现状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4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可玩 Demo 已上线，下一步是验证效果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B5BD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A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个完整故事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560320" y="12801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A8FE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2560320" y="2011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A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个练习关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663440" y="12801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07C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21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663440" y="2011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A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个角色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766560" y="12801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624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766560" y="2011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A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安装，浏览器即玩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25146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4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怎么用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2880360"/>
            <a:ext cx="2606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624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个人：8 题测验推荐起点，一章约 15 分钟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624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班会：45 分钟一章 + 讨论，交换「你听到的那一句」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624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学生干部 / 职场新人培训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46120" y="25146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4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在验证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46120" y="2880360"/>
            <a:ext cx="2606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624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镜面那一刻，有没有那一声「啊」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624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「先停一下」会不会被觉得是说教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624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一周后，有没有用上「本周小任务」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35040" y="25146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4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下一步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035040" y="2880360"/>
            <a:ext cx="2606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624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自由表达与动态镜面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624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学校与新人培训小范围试玩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624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更多方向：计划与弹性、表达与倾听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8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48640" cy="91440"/>
          </a:xfrm>
          <a:prstGeom prst="rect">
            <a:avLst/>
          </a:prstGeom>
          <a:solidFill>
            <a:srgbClr val="4A8FE0"/>
          </a:solidFill>
          <a:ln w="12700">
            <a:solidFill>
              <a:srgbClr val="4A8F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1463040"/>
            <a:ext cx="548640" cy="91440"/>
          </a:xfrm>
          <a:prstGeom prst="rect">
            <a:avLst/>
          </a:prstGeom>
          <a:solidFill>
            <a:srgbClr val="F07C5A"/>
          </a:solidFill>
          <a:ln w="12700">
            <a:solidFill>
              <a:srgbClr val="F07C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你学会了另一面。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不是变成对方——是你们之间，多了一种语言。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2971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C14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——校园篇结局「追光」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3931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Overself · AI for 人格成长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279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4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在线试玩：yuyuyuzero.github.io/overself-ai-edu-game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Overself —— AI for 人格成长</dc:title>
  <dc:subject>PptxGenJS Presentation</dc:subject>
  <dc:creator>Overself</dc:creator>
  <cp:lastModifiedBy>Overself</cp:lastModifiedBy>
  <cp:revision>1</cp:revision>
  <dcterms:created xsi:type="dcterms:W3CDTF">2026-10-24T06:55:31Z</dcterms:created>
  <dcterms:modified xsi:type="dcterms:W3CDTF">2026-10-24T06:55:31Z</dcterms:modified>
</cp:coreProperties>
</file>